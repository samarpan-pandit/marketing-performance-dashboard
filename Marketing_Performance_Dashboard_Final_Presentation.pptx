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C304A6-3816-4416-8304-32FA4F332F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6494646-7A22-43A9-926A-E3D52AE88A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E420BB0-EA20-4094-9D9F-7399D457FD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0CB470E-95CE-408F-88D0-5E18895F0C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C4A7278-F615-4949-BD0F-A9FF216889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653A1CD-0FC9-4362-BD49-14AFE5E56E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40C90A2-B646-440F-8B39-3992CF8AA2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F9B9C6E-3FEF-4A34-BAF5-5C047CA8CE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7B00E89-9578-4FE7-A5E9-0F1A67648E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4841F73-389C-4EE0-8481-FFDA107971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37E830B-0948-4CD7-9EEE-E06F0977CA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0CCB6E6-426B-4FD0-B905-60664E7D4C7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2757290-6431-45DB-8AB6-058A04706A1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BCB585A-B445-4B9B-9EEE-46C970A965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28F1A54-50A2-4C66-9076-6BC2A8B88A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7FED76B-CEBA-4666-9887-B9849B11FA7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8424D71-4A17-4AF9-96AC-472520EC8E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AB9323B-4C50-4C58-B1C0-DAEDFF2DE6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E06CC6-06D1-4E7E-914E-40B9D35D25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7EF0B68-21EF-4132-95D0-7BC790599EB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2DA9BD2-ACE9-4F0B-93FD-C209C244E2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0A526F8-B4D6-4F10-8216-F373FCAA0CD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marketing-performance-dashboard.streamlit.app/" TargetMode="External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88160" cy="639360"/>
          </a:xfrm>
          <a:prstGeom prst="rect">
            <a:avLst/>
          </a:prstGeom>
          <a:solidFill>
            <a:srgbClr val="1e40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2367720" y="91440"/>
            <a:ext cx="6451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Marketing Performance Dashboard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3634560" y="1097280"/>
            <a:ext cx="47084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Data Analytics Capstone Project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Prepared by: Samarpan Pandit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SkillOrbit-2026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1766880" y="6446520"/>
            <a:ext cx="2683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6464"/>
                </a:solidFill>
                <a:latin typeface="Calibri"/>
              </a:rPr>
              <a:t>Marketing Performance Dashboard | 1/10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1"/>
          <p:cNvSpPr/>
          <p:nvPr/>
        </p:nvSpPr>
        <p:spPr>
          <a:xfrm>
            <a:off x="0" y="0"/>
            <a:ext cx="12188160" cy="639360"/>
          </a:xfrm>
          <a:prstGeom prst="rect">
            <a:avLst/>
          </a:prstGeom>
          <a:solidFill>
            <a:srgbClr val="1e40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TextBox 2"/>
          <p:cNvSpPr/>
          <p:nvPr/>
        </p:nvSpPr>
        <p:spPr>
          <a:xfrm>
            <a:off x="4002840" y="91440"/>
            <a:ext cx="3196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Project Overview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3"/>
          <p:cNvSpPr/>
          <p:nvPr/>
        </p:nvSpPr>
        <p:spPr>
          <a:xfrm>
            <a:off x="257760" y="914400"/>
            <a:ext cx="413136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Analyze campaign performance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KPI tracking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Interactive dashboard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Data-driven insights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Picture 4" descr="Dashboard_Overview.png"/>
          <p:cNvPicPr/>
          <p:nvPr/>
        </p:nvPicPr>
        <p:blipFill>
          <a:blip r:embed="rId1"/>
          <a:stretch/>
        </p:blipFill>
        <p:spPr>
          <a:xfrm>
            <a:off x="4389120" y="914400"/>
            <a:ext cx="7405920" cy="5211360"/>
          </a:xfrm>
          <a:prstGeom prst="rect">
            <a:avLst/>
          </a:prstGeom>
          <a:ln w="0">
            <a:noFill/>
          </a:ln>
        </p:spPr>
      </p:pic>
      <p:sp>
        <p:nvSpPr>
          <p:cNvPr id="58" name="TextBox 5"/>
          <p:cNvSpPr/>
          <p:nvPr/>
        </p:nvSpPr>
        <p:spPr>
          <a:xfrm>
            <a:off x="1766880" y="6446520"/>
            <a:ext cx="2683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6464"/>
                </a:solidFill>
                <a:latin typeface="Calibri"/>
              </a:rPr>
              <a:t>Marketing Performance Dashboard | 2/10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88160" cy="639360"/>
          </a:xfrm>
          <a:prstGeom prst="rect">
            <a:avLst/>
          </a:prstGeom>
          <a:solidFill>
            <a:srgbClr val="1e40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3348360" y="32040"/>
            <a:ext cx="4368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Campaign Performance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939960" y="914400"/>
            <a:ext cx="29653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Revenue by campaign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ROI comparison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Engagement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Conversions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Picture 4" descr="Campaign_Performance(1).png"/>
          <p:cNvPicPr/>
          <p:nvPr/>
        </p:nvPicPr>
        <p:blipFill>
          <a:blip r:embed="rId1"/>
          <a:stretch/>
        </p:blipFill>
        <p:spPr>
          <a:xfrm>
            <a:off x="4389120" y="914400"/>
            <a:ext cx="7405920" cy="5211360"/>
          </a:xfrm>
          <a:prstGeom prst="rect">
            <a:avLst/>
          </a:prstGeom>
          <a:ln w="0">
            <a:noFill/>
          </a:ln>
        </p:spPr>
      </p:pic>
      <p:sp>
        <p:nvSpPr>
          <p:cNvPr id="63" name="TextBox 5"/>
          <p:cNvSpPr/>
          <p:nvPr/>
        </p:nvSpPr>
        <p:spPr>
          <a:xfrm>
            <a:off x="1766880" y="6446520"/>
            <a:ext cx="2683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6464"/>
                </a:solidFill>
                <a:latin typeface="Calibri"/>
              </a:rPr>
              <a:t>Marketing Performance Dashboard | 3/10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1"/>
          <p:cNvSpPr/>
          <p:nvPr/>
        </p:nvSpPr>
        <p:spPr>
          <a:xfrm>
            <a:off x="0" y="0"/>
            <a:ext cx="12188160" cy="639360"/>
          </a:xfrm>
          <a:prstGeom prst="rect">
            <a:avLst/>
          </a:prstGeom>
          <a:solidFill>
            <a:srgbClr val="1e40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3322440" y="91440"/>
            <a:ext cx="4777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Channel-wise Comparison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1058400" y="914400"/>
            <a:ext cx="27288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Revenue by channel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Cost, ROI, CTR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Conversion Rate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Picture 4" descr="Channel_Comparison(1).png"/>
          <p:cNvPicPr/>
          <p:nvPr/>
        </p:nvPicPr>
        <p:blipFill>
          <a:blip r:embed="rId1"/>
          <a:stretch/>
        </p:blipFill>
        <p:spPr>
          <a:xfrm>
            <a:off x="4389120" y="914400"/>
            <a:ext cx="7405920" cy="5211360"/>
          </a:xfrm>
          <a:prstGeom prst="rect">
            <a:avLst/>
          </a:prstGeom>
          <a:ln w="0">
            <a:noFill/>
          </a:ln>
        </p:spPr>
      </p:pic>
      <p:sp>
        <p:nvSpPr>
          <p:cNvPr id="68" name="TextBox 5"/>
          <p:cNvSpPr/>
          <p:nvPr/>
        </p:nvSpPr>
        <p:spPr>
          <a:xfrm>
            <a:off x="1766880" y="6446520"/>
            <a:ext cx="2683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6464"/>
                </a:solidFill>
                <a:latin typeface="Calibri"/>
              </a:rPr>
              <a:t>Marketing Performance Dashboard | 4/10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24120" y="0"/>
            <a:ext cx="12188160" cy="639360"/>
          </a:xfrm>
          <a:prstGeom prst="rect">
            <a:avLst/>
          </a:prstGeom>
          <a:solidFill>
            <a:srgbClr val="1e40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3641760" y="31680"/>
            <a:ext cx="3710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Engagement Trends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959760" y="914400"/>
            <a:ext cx="29257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Monthly engagement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Revenue trend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Conversion trend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Picture 4" descr="Engagement_Trends.png"/>
          <p:cNvPicPr/>
          <p:nvPr/>
        </p:nvPicPr>
        <p:blipFill>
          <a:blip r:embed="rId1"/>
          <a:stretch/>
        </p:blipFill>
        <p:spPr>
          <a:xfrm>
            <a:off x="4389120" y="914400"/>
            <a:ext cx="7405920" cy="5211360"/>
          </a:xfrm>
          <a:prstGeom prst="rect">
            <a:avLst/>
          </a:prstGeom>
          <a:ln w="0">
            <a:noFill/>
          </a:ln>
        </p:spPr>
      </p:pic>
      <p:sp>
        <p:nvSpPr>
          <p:cNvPr id="73" name="TextBox 5"/>
          <p:cNvSpPr/>
          <p:nvPr/>
        </p:nvSpPr>
        <p:spPr>
          <a:xfrm>
            <a:off x="1766880" y="6446520"/>
            <a:ext cx="2683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6464"/>
                </a:solidFill>
                <a:latin typeface="Calibri"/>
              </a:rPr>
              <a:t>Marketing Performance Dashboard | 5/10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88160" cy="639360"/>
          </a:xfrm>
          <a:prstGeom prst="rect">
            <a:avLst/>
          </a:prstGeom>
          <a:solidFill>
            <a:srgbClr val="1e40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3060000" y="91440"/>
            <a:ext cx="4704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Sales Conversion Insights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892800" y="914400"/>
            <a:ext cx="30596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Marketing funnel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Campaign conversions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Customer conversions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Picture 4" descr="Sales_Conversion_Insights(1).png"/>
          <p:cNvPicPr/>
          <p:nvPr/>
        </p:nvPicPr>
        <p:blipFill>
          <a:blip r:embed="rId1"/>
          <a:stretch/>
        </p:blipFill>
        <p:spPr>
          <a:xfrm>
            <a:off x="4389120" y="914400"/>
            <a:ext cx="7405920" cy="5211360"/>
          </a:xfrm>
          <a:prstGeom prst="rect">
            <a:avLst/>
          </a:prstGeom>
          <a:ln w="0">
            <a:noFill/>
          </a:ln>
        </p:spPr>
      </p:pic>
      <p:sp>
        <p:nvSpPr>
          <p:cNvPr id="78" name="TextBox 5"/>
          <p:cNvSpPr/>
          <p:nvPr/>
        </p:nvSpPr>
        <p:spPr>
          <a:xfrm>
            <a:off x="1766880" y="6446520"/>
            <a:ext cx="2683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6464"/>
                </a:solidFill>
                <a:latin typeface="Calibri"/>
              </a:rPr>
              <a:t>Marketing Performance Dashboard | 6/10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88160" cy="639360"/>
          </a:xfrm>
          <a:prstGeom prst="rect">
            <a:avLst/>
          </a:prstGeom>
          <a:solidFill>
            <a:srgbClr val="1e40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3828600" y="91440"/>
            <a:ext cx="3466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Customer Analysis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1045440" y="914400"/>
            <a:ext cx="27547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Customer segments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Revenue &amp; ROI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Engagement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Picture 4" descr="Customer_Analysis(1).png"/>
          <p:cNvPicPr/>
          <p:nvPr/>
        </p:nvPicPr>
        <p:blipFill>
          <a:blip r:embed="rId1"/>
          <a:stretch/>
        </p:blipFill>
        <p:spPr>
          <a:xfrm>
            <a:off x="4389120" y="914400"/>
            <a:ext cx="7405920" cy="5211360"/>
          </a:xfrm>
          <a:prstGeom prst="rect">
            <a:avLst/>
          </a:prstGeom>
          <a:ln w="0">
            <a:noFill/>
          </a:ln>
        </p:spPr>
      </p:pic>
      <p:sp>
        <p:nvSpPr>
          <p:cNvPr id="83" name="TextBox 5"/>
          <p:cNvSpPr/>
          <p:nvPr/>
        </p:nvSpPr>
        <p:spPr>
          <a:xfrm>
            <a:off x="1766880" y="6446520"/>
            <a:ext cx="2683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6464"/>
                </a:solidFill>
                <a:latin typeface="Calibri"/>
              </a:rPr>
              <a:t>Marketing Performance Dashboard | 7/10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88160" cy="639360"/>
          </a:xfrm>
          <a:prstGeom prst="rect">
            <a:avLst/>
          </a:prstGeom>
          <a:solidFill>
            <a:srgbClr val="1e40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2836440" y="91440"/>
            <a:ext cx="5263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Target Audience &amp; Language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845640" y="914400"/>
            <a:ext cx="31543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Target audience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Language performance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Picture 4" descr="Target_Audience_Analysis.png"/>
          <p:cNvPicPr/>
          <p:nvPr/>
        </p:nvPicPr>
        <p:blipFill>
          <a:blip r:embed="rId1"/>
          <a:stretch/>
        </p:blipFill>
        <p:spPr>
          <a:xfrm>
            <a:off x="4389120" y="914400"/>
            <a:ext cx="7405920" cy="5211360"/>
          </a:xfrm>
          <a:prstGeom prst="rect">
            <a:avLst/>
          </a:prstGeom>
          <a:ln w="0">
            <a:noFill/>
          </a:ln>
        </p:spPr>
      </p:pic>
      <p:sp>
        <p:nvSpPr>
          <p:cNvPr id="88" name="TextBox 5"/>
          <p:cNvSpPr/>
          <p:nvPr/>
        </p:nvSpPr>
        <p:spPr>
          <a:xfrm>
            <a:off x="1766880" y="6446520"/>
            <a:ext cx="2683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6464"/>
                </a:solidFill>
                <a:latin typeface="Calibri"/>
              </a:rPr>
              <a:t>Marketing Performance Dashboard | 8/10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88160" cy="639360"/>
          </a:xfrm>
          <a:prstGeom prst="rect">
            <a:avLst/>
          </a:prstGeom>
          <a:solidFill>
            <a:srgbClr val="1e40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3174840" y="91440"/>
            <a:ext cx="5104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Deployment &amp; Technologies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92520" y="961560"/>
            <a:ext cx="10687680" cy="30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Live App: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hlinkClick r:id="rId1"/>
              </a:rPr>
              <a:t>https://marketing-performance-dashboard.streamlit.app/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GitHub Link: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https://github.com/Samarpan-Pandit/Marketing-Performance-Dashboard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Technologies: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Python, Pandas, Plotly, Streamlit, GitHub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1766880" y="6446520"/>
            <a:ext cx="2683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6464"/>
                </a:solidFill>
                <a:latin typeface="Calibri"/>
              </a:rPr>
              <a:t>Marketing Performance Dashboard | 9/10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119160" y="0"/>
            <a:ext cx="12188160" cy="639360"/>
          </a:xfrm>
          <a:prstGeom prst="rect">
            <a:avLst/>
          </a:prstGeom>
          <a:solidFill>
            <a:srgbClr val="1e40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4162680" y="43920"/>
            <a:ext cx="2120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Conclusion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3340440" y="1097280"/>
            <a:ext cx="529704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Dashboard successfully developed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Interactive analytics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Business insights generated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Thank You!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1731240" y="6446520"/>
            <a:ext cx="2754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46464"/>
                </a:solidFill>
                <a:latin typeface="Calibri"/>
              </a:rPr>
              <a:t>Marketing Performance Dashboard | 10/10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2026-07-28T14:13:35Z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